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Times New Roman MT Bold Italics" charset="1" panose="02030802070405090303"/>
      <p:regular r:id="rId19"/>
    </p:embeddedFont>
    <p:embeddedFont>
      <p:font typeface="Times New Roman" charset="1" panose="02020603050405020304"/>
      <p:regular r:id="rId20"/>
    </p:embeddedFont>
    <p:embeddedFont>
      <p:font typeface="Times New Roman MT Bold" charset="1" panose="02030802070405020303"/>
      <p:regular r:id="rId21"/>
    </p:embeddedFont>
    <p:embeddedFont>
      <p:font typeface="Times New Roman MT" charset="1" panose="02030502070405020303"/>
      <p:regular r:id="rId22"/>
    </p:embeddedFont>
    <p:embeddedFont>
      <p:font typeface="Playfair Display Bold" charset="1" panose="00000800000000000000"/>
      <p:regular r:id="rId23"/>
    </p:embeddedFont>
    <p:embeddedFont>
      <p:font typeface="Playfair Display" charset="1" panose="00000500000000000000"/>
      <p:regular r:id="rId24"/>
    </p:embeddedFont>
    <p:embeddedFont>
      <p:font typeface="Times New Roman Bold" charset="1" panose="020208030705050203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983" y="191522"/>
            <a:ext cx="17947615" cy="9923620"/>
            <a:chOff x="0" y="0"/>
            <a:chExt cx="23930154" cy="13231494"/>
          </a:xfrm>
        </p:grpSpPr>
        <p:sp>
          <p:nvSpPr>
            <p:cNvPr name="AutoShape 3" id="3"/>
            <p:cNvSpPr/>
            <p:nvPr/>
          </p:nvSpPr>
          <p:spPr>
            <a:xfrm>
              <a:off x="25400" y="25400"/>
              <a:ext cx="23879354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25400" y="13206094"/>
              <a:ext cx="23879354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25400" y="25400"/>
              <a:ext cx="0" cy="1318069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23904754" y="25400"/>
              <a:ext cx="0" cy="1318069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70833" y="11238221"/>
              <a:ext cx="1667286" cy="1701632"/>
            </a:xfrm>
            <a:custGeom>
              <a:avLst/>
              <a:gdLst/>
              <a:ahLst/>
              <a:cxnLst/>
              <a:rect r="r" b="b" t="t" l="l"/>
              <a:pathLst>
                <a:path h="1701632" w="1667286">
                  <a:moveTo>
                    <a:pt x="0" y="0"/>
                  </a:moveTo>
                  <a:lnTo>
                    <a:pt x="1667286" y="0"/>
                  </a:lnTo>
                  <a:lnTo>
                    <a:pt x="1667286" y="1701633"/>
                  </a:lnTo>
                  <a:lnTo>
                    <a:pt x="0" y="1701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30" t="0" r="-103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460637" y="12298671"/>
              <a:ext cx="15500897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83"/>
                </a:lnSpc>
              </a:pPr>
              <a:r>
                <a:rPr lang="en-US" b="true" sz="2819" i="true">
                  <a:solidFill>
                    <a:srgbClr val="C00000"/>
                  </a:solidFill>
                  <a:latin typeface="Times New Roman MT Bold Italics"/>
                  <a:ea typeface="Times New Roman MT Bold Italics"/>
                  <a:cs typeface="Times New Roman MT Bold Italics"/>
                  <a:sym typeface="Times New Roman MT Bold Italics"/>
                </a:rPr>
                <a:t>Department of Computer Science &amp; Engineering, MITSOE, Loni Kalbhor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03528" y="1782743"/>
            <a:ext cx="17267914" cy="1461297"/>
            <a:chOff x="0" y="0"/>
            <a:chExt cx="23023886" cy="194839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152400"/>
              <a:ext cx="6242526" cy="14135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764"/>
                </a:lnSpc>
              </a:pPr>
              <a:r>
                <a:rPr lang="en-US" sz="626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MedGuardAI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77718"/>
              <a:ext cx="23023886" cy="7706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Intelligent</a:t>
              </a:r>
              <a:r>
                <a:rPr lang="en-US" sz="3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Multi-Agent System for Medicine Authentication and Safety Verification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468971" y="552450"/>
            <a:ext cx="5303639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3"/>
              </a:lnSpc>
              <a:spcBef>
                <a:spcPct val="0"/>
              </a:spcBef>
            </a:pPr>
            <a:r>
              <a:rPr lang="en-US" b="true" sz="4919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Project Presentation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3528" y="4402162"/>
            <a:ext cx="11806333" cy="283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999" b="true">
                <a:solidFill>
                  <a:srgbClr val="2B2C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Group Members :</a:t>
            </a:r>
            <a:r>
              <a:rPr lang="en-US" sz="2999">
                <a:solidFill>
                  <a:srgbClr val="2B2C3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2B2C3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Sudip Konde - AI &amp; ML Lead ( MITU22BTCS0859 )</a:t>
            </a:r>
          </a:p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2B2C3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Tanmmay Khedekar - Frontend Lead ( MITU22BTCS0906 )</a:t>
            </a:r>
          </a:p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2B2C3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Sai Jagdale - Backend Lead ( MITU22BTCS0692 )</a:t>
            </a:r>
          </a:p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2B2C3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Sujal Bafna - DB &amp; DevOps Lead ( MITU22BTCS0864 )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55510" y="7631414"/>
            <a:ext cx="6470083" cy="39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2"/>
              </a:lnSpc>
            </a:pPr>
            <a:r>
              <a:rPr lang="en-US" sz="3200" spc="16" b="true">
                <a:solidFill>
                  <a:srgbClr val="2B2C3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Guide :</a:t>
            </a:r>
            <a:r>
              <a:rPr lang="en-US" sz="3200" spc="16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Prof . Dr Rajendra Pawar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983" y="191522"/>
            <a:ext cx="17947615" cy="9923620"/>
            <a:chOff x="0" y="0"/>
            <a:chExt cx="23930154" cy="13231494"/>
          </a:xfrm>
        </p:grpSpPr>
        <p:sp>
          <p:nvSpPr>
            <p:cNvPr name="AutoShape 3" id="3"/>
            <p:cNvSpPr/>
            <p:nvPr/>
          </p:nvSpPr>
          <p:spPr>
            <a:xfrm>
              <a:off x="25400" y="25400"/>
              <a:ext cx="23879354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25400" y="13206094"/>
              <a:ext cx="23879354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25400" y="25400"/>
              <a:ext cx="0" cy="1318069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23904754" y="25400"/>
              <a:ext cx="0" cy="1318069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70833" y="11238221"/>
              <a:ext cx="1667286" cy="1701632"/>
            </a:xfrm>
            <a:custGeom>
              <a:avLst/>
              <a:gdLst/>
              <a:ahLst/>
              <a:cxnLst/>
              <a:rect r="r" b="b" t="t" l="l"/>
              <a:pathLst>
                <a:path h="1701632" w="1667286">
                  <a:moveTo>
                    <a:pt x="0" y="0"/>
                  </a:moveTo>
                  <a:lnTo>
                    <a:pt x="1667286" y="0"/>
                  </a:lnTo>
                  <a:lnTo>
                    <a:pt x="1667286" y="1701633"/>
                  </a:lnTo>
                  <a:lnTo>
                    <a:pt x="0" y="1701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30" t="0" r="-103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460637" y="12298671"/>
              <a:ext cx="15500897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83"/>
                </a:lnSpc>
              </a:pPr>
              <a:r>
                <a:rPr lang="en-US" b="true" sz="2819" i="true">
                  <a:solidFill>
                    <a:srgbClr val="C00000"/>
                  </a:solidFill>
                  <a:latin typeface="Times New Roman MT Bold Italics"/>
                  <a:ea typeface="Times New Roman MT Bold Italics"/>
                  <a:cs typeface="Times New Roman MT Bold Italics"/>
                  <a:sym typeface="Times New Roman MT Bold Italics"/>
                </a:rPr>
                <a:t>Department of Computer Science &amp; Engineering, MITSOE, Loni Kalbhor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802983" y="1746882"/>
            <a:ext cx="7877184" cy="771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5609"/>
              </a:lnSpc>
              <a:buAutoNum type="arabicPeriod" startAt="1"/>
            </a:pPr>
            <a:r>
              <a:rPr lang="en-US" sz="2999">
                <a:solidFill>
                  <a:srgbClr val="2B2C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&amp; Problem Statement</a:t>
            </a:r>
          </a:p>
          <a:p>
            <a:pPr algn="l" marL="647698" indent="-323849" lvl="1">
              <a:lnSpc>
                <a:spcPts val="5609"/>
              </a:lnSpc>
              <a:buAutoNum type="arabicPeriod" startAt="1"/>
            </a:pPr>
            <a:r>
              <a:rPr lang="en-US" sz="2999">
                <a:solidFill>
                  <a:srgbClr val="2B2C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</a:p>
          <a:p>
            <a:pPr algn="l" marL="647698" indent="-323849" lvl="1">
              <a:lnSpc>
                <a:spcPts val="5609"/>
              </a:lnSpc>
              <a:buAutoNum type="arabicPeriod" startAt="1"/>
            </a:pPr>
            <a:r>
              <a:rPr lang="en-US" sz="2999">
                <a:solidFill>
                  <a:srgbClr val="2B2C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Concepts &amp; Methods </a:t>
            </a:r>
          </a:p>
          <a:p>
            <a:pPr algn="l" marL="647698" indent="-323849" lvl="1">
              <a:lnSpc>
                <a:spcPts val="5609"/>
              </a:lnSpc>
              <a:buAutoNum type="arabicPeriod" startAt="1"/>
            </a:pPr>
            <a:r>
              <a:rPr lang="en-US" sz="2999">
                <a:solidFill>
                  <a:srgbClr val="2B2C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</a:p>
          <a:p>
            <a:pPr algn="l" marL="647698" indent="-323849" lvl="1">
              <a:lnSpc>
                <a:spcPts val="5609"/>
              </a:lnSpc>
              <a:buAutoNum type="arabicPeriod" startAt="1"/>
            </a:pPr>
            <a:r>
              <a:rPr lang="en-US" sz="2999">
                <a:solidFill>
                  <a:srgbClr val="2B2C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Identification of Gaps</a:t>
            </a:r>
          </a:p>
          <a:p>
            <a:pPr algn="l" marL="647698" indent="-323849" lvl="1">
              <a:lnSpc>
                <a:spcPts val="5609"/>
              </a:lnSpc>
              <a:buAutoNum type="arabicPeriod" startAt="1"/>
            </a:pPr>
            <a:r>
              <a:rPr lang="en-US" sz="2999">
                <a:solidFill>
                  <a:srgbClr val="2B2C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&amp; Architecture</a:t>
            </a:r>
          </a:p>
          <a:p>
            <a:pPr algn="l" marL="647698" indent="-323849" lvl="1">
              <a:lnSpc>
                <a:spcPts val="5609"/>
              </a:lnSpc>
              <a:buAutoNum type="arabicPeriod" startAt="1"/>
            </a:pPr>
            <a:r>
              <a:rPr lang="en-US" sz="2999">
                <a:solidFill>
                  <a:srgbClr val="2B2C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&amp; Technologies</a:t>
            </a:r>
          </a:p>
          <a:p>
            <a:pPr algn="l" marL="647698" indent="-323849" lvl="1">
              <a:lnSpc>
                <a:spcPts val="5609"/>
              </a:lnSpc>
              <a:buAutoNum type="arabicPeriod" startAt="1"/>
            </a:pPr>
            <a:r>
              <a:rPr lang="en-US" sz="2999">
                <a:solidFill>
                  <a:srgbClr val="2B2C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</a:t>
            </a:r>
          </a:p>
          <a:p>
            <a:pPr algn="l" marL="647698" indent="-323849" lvl="1">
              <a:lnSpc>
                <a:spcPts val="5609"/>
              </a:lnSpc>
              <a:buAutoNum type="arabicPeriod" startAt="1"/>
            </a:pPr>
            <a:r>
              <a:rPr lang="en-US" sz="2999">
                <a:solidFill>
                  <a:srgbClr val="2B2C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</a:p>
          <a:p>
            <a:pPr algn="l" marL="647698" indent="-323849" lvl="1">
              <a:lnSpc>
                <a:spcPts val="5609"/>
              </a:lnSpc>
              <a:buAutoNum type="arabicPeriod" startAt="1"/>
            </a:pPr>
            <a:r>
              <a:rPr lang="en-US" sz="2999">
                <a:solidFill>
                  <a:srgbClr val="2B2C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Future Work</a:t>
            </a:r>
          </a:p>
          <a:p>
            <a:pPr algn="l" marL="647698" indent="-323849" lvl="1">
              <a:lnSpc>
                <a:spcPts val="5609"/>
              </a:lnSpc>
              <a:buAutoNum type="arabicPeriod" startAt="1"/>
            </a:pPr>
            <a:r>
              <a:rPr lang="en-US" sz="2999">
                <a:solidFill>
                  <a:srgbClr val="2B2C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006871" y="876300"/>
            <a:ext cx="16230600" cy="715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983" y="191522"/>
            <a:ext cx="17947615" cy="9923620"/>
            <a:chOff x="0" y="0"/>
            <a:chExt cx="23930154" cy="13231494"/>
          </a:xfrm>
        </p:grpSpPr>
        <p:sp>
          <p:nvSpPr>
            <p:cNvPr name="AutoShape 3" id="3"/>
            <p:cNvSpPr/>
            <p:nvPr/>
          </p:nvSpPr>
          <p:spPr>
            <a:xfrm>
              <a:off x="25400" y="25400"/>
              <a:ext cx="23879354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25400" y="13206094"/>
              <a:ext cx="23879354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25400" y="25400"/>
              <a:ext cx="0" cy="1318069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23904754" y="25400"/>
              <a:ext cx="0" cy="1318069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70833" y="11238221"/>
              <a:ext cx="1667286" cy="1701632"/>
            </a:xfrm>
            <a:custGeom>
              <a:avLst/>
              <a:gdLst/>
              <a:ahLst/>
              <a:cxnLst/>
              <a:rect r="r" b="b" t="t" l="l"/>
              <a:pathLst>
                <a:path h="1701632" w="1667286">
                  <a:moveTo>
                    <a:pt x="0" y="0"/>
                  </a:moveTo>
                  <a:lnTo>
                    <a:pt x="1667286" y="0"/>
                  </a:lnTo>
                  <a:lnTo>
                    <a:pt x="1667286" y="1701633"/>
                  </a:lnTo>
                  <a:lnTo>
                    <a:pt x="0" y="1701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30" t="0" r="-103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460637" y="12298671"/>
              <a:ext cx="15500897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83"/>
                </a:lnSpc>
              </a:pPr>
              <a:r>
                <a:rPr lang="en-US" b="true" sz="2819" i="true">
                  <a:solidFill>
                    <a:srgbClr val="C00000"/>
                  </a:solidFill>
                  <a:latin typeface="Times New Roman MT Bold Italics"/>
                  <a:ea typeface="Times New Roman MT Bold Italics"/>
                  <a:cs typeface="Times New Roman MT Bold Italics"/>
                  <a:sym typeface="Times New Roman MT Bold Italics"/>
                </a:rPr>
                <a:t>Department of Computer Science &amp; Engineering, MITSOE, Loni Kalbhor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6871" y="1028700"/>
            <a:ext cx="16252429" cy="775332"/>
            <a:chOff x="0" y="0"/>
            <a:chExt cx="21669905" cy="1033777"/>
          </a:xfrm>
        </p:grpSpPr>
        <p:sp>
          <p:nvSpPr>
            <p:cNvPr name="AutoShape 10" id="10"/>
            <p:cNvSpPr/>
            <p:nvPr/>
          </p:nvSpPr>
          <p:spPr>
            <a:xfrm flipV="true">
              <a:off x="29098" y="976082"/>
              <a:ext cx="21640792" cy="51345"/>
            </a:xfrm>
            <a:prstGeom prst="line">
              <a:avLst/>
            </a:prstGeom>
            <a:ln cap="flat" w="12700">
              <a:solidFill>
                <a:srgbClr val="2B2C3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-152400"/>
              <a:ext cx="21640800" cy="902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00"/>
                </a:lnSpc>
                <a:spcBef>
                  <a:spcPct val="0"/>
                </a:spcBef>
              </a:pPr>
              <a:r>
                <a:rPr lang="en-US" b="true" sz="3714" spc="843">
                  <a:solidFill>
                    <a:srgbClr val="2B2C3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INTRODUCTION &amp; PROBLEM STATEMENT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1933575"/>
            <a:ext cx="10403443" cy="267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Growing issue of counterfeit, expire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d, and illegal medicines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 for users to verify medicine authenticity in real-time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systems lack multi-modal verification and accessibility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for an AI-based, user-friendly verification solution</a:t>
            </a:r>
          </a:p>
          <a:p>
            <a:pPr algn="l">
              <a:lnSpc>
                <a:spcPts val="4200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1028695" y="4619932"/>
            <a:ext cx="16669955" cy="1943100"/>
            <a:chOff x="0" y="0"/>
            <a:chExt cx="22226606" cy="259080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76200"/>
              <a:ext cx="3029585" cy="1498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223"/>
                </a:lnSpc>
                <a:spcBef>
                  <a:spcPct val="0"/>
                </a:spcBef>
              </a:pPr>
              <a:r>
                <a:rPr lang="en-US" b="true" sz="3519" i="true">
                  <a:solidFill>
                    <a:srgbClr val="000000"/>
                  </a:solidFill>
                  <a:latin typeface="Times New Roman MT Bold Italics"/>
                  <a:ea typeface="Times New Roman MT Bold Italics"/>
                  <a:cs typeface="Times New Roman MT Bold Italics"/>
                  <a:sym typeface="Times New Roman MT Bold Italics"/>
                </a:rPr>
                <a:t>Problem </a:t>
              </a:r>
            </a:p>
            <a:p>
              <a:pPr algn="just">
                <a:lnSpc>
                  <a:spcPts val="4223"/>
                </a:lnSpc>
                <a:spcBef>
                  <a:spcPct val="0"/>
                </a:spcBef>
              </a:pPr>
              <a:r>
                <a:rPr lang="en-US" b="true" sz="3519" i="true">
                  <a:solidFill>
                    <a:srgbClr val="000000"/>
                  </a:solidFill>
                  <a:latin typeface="Times New Roman MT Bold Italics"/>
                  <a:ea typeface="Times New Roman MT Bold Italics"/>
                  <a:cs typeface="Times New Roman MT Bold Italics"/>
                  <a:sym typeface="Times New Roman MT Bold Italics"/>
                </a:rPr>
                <a:t>Statement : 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05220" y="-66675"/>
              <a:ext cx="18921386" cy="2657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40"/>
                </a:lnSpc>
                <a:spcBef>
                  <a:spcPct val="0"/>
                </a:spcBef>
              </a:pPr>
              <a:r>
                <a:rPr lang="en-US" b="true" sz="3200" i="true">
                  <a:solidFill>
                    <a:srgbClr val="000000"/>
                  </a:solidFill>
                  <a:latin typeface="Times New Roman MT Bold Italics"/>
                  <a:ea typeface="Times New Roman MT Bold Italics"/>
                  <a:cs typeface="Times New Roman MT Bold Italics"/>
                  <a:sym typeface="Times New Roman MT Bold Italics"/>
                </a:rPr>
                <a:t>Counterfeit and expi</a:t>
              </a:r>
              <a:r>
                <a:rPr lang="en-US" b="true" sz="3200" i="true">
                  <a:solidFill>
                    <a:srgbClr val="000000"/>
                  </a:solidFill>
                  <a:latin typeface="Times New Roman MT Bold Italics"/>
                  <a:ea typeface="Times New Roman MT Bold Italics"/>
                  <a:cs typeface="Times New Roman MT Bold Italics"/>
                  <a:sym typeface="Times New Roman MT Bold Italics"/>
                </a:rPr>
                <a:t>red medicines pose serious health risks, while existing barcode-based systems are unreliable due to damage, duplication, and lack of real-time verification. There is a need for a simple, integrated system using AI, OCR, and barcode technology to ensure accurate and accessible medicine authentication.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983" y="191522"/>
            <a:ext cx="17947615" cy="9923620"/>
            <a:chOff x="0" y="0"/>
            <a:chExt cx="23930154" cy="13231494"/>
          </a:xfrm>
        </p:grpSpPr>
        <p:sp>
          <p:nvSpPr>
            <p:cNvPr name="AutoShape 3" id="3"/>
            <p:cNvSpPr/>
            <p:nvPr/>
          </p:nvSpPr>
          <p:spPr>
            <a:xfrm>
              <a:off x="25400" y="25400"/>
              <a:ext cx="23879354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25400" y="13206094"/>
              <a:ext cx="23879354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25400" y="25400"/>
              <a:ext cx="0" cy="1318069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23904754" y="25400"/>
              <a:ext cx="0" cy="1318069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70833" y="11238221"/>
              <a:ext cx="1667286" cy="1701632"/>
            </a:xfrm>
            <a:custGeom>
              <a:avLst/>
              <a:gdLst/>
              <a:ahLst/>
              <a:cxnLst/>
              <a:rect r="r" b="b" t="t" l="l"/>
              <a:pathLst>
                <a:path h="1701632" w="1667286">
                  <a:moveTo>
                    <a:pt x="0" y="0"/>
                  </a:moveTo>
                  <a:lnTo>
                    <a:pt x="1667286" y="0"/>
                  </a:lnTo>
                  <a:lnTo>
                    <a:pt x="1667286" y="1701633"/>
                  </a:lnTo>
                  <a:lnTo>
                    <a:pt x="0" y="1701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30" t="0" r="-103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460637" y="12298671"/>
              <a:ext cx="15500897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83"/>
                </a:lnSpc>
              </a:pPr>
              <a:r>
                <a:rPr lang="en-US" b="true" sz="2819" i="true">
                  <a:solidFill>
                    <a:srgbClr val="C00000"/>
                  </a:solidFill>
                  <a:latin typeface="Times New Roman MT Bold Italics"/>
                  <a:ea typeface="Times New Roman MT Bold Italics"/>
                  <a:cs typeface="Times New Roman MT Bold Italics"/>
                  <a:sym typeface="Times New Roman MT Bold Italics"/>
                </a:rPr>
                <a:t>Department of Computer Science &amp; Engineering, MITSOE, Loni Kalbhor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6871" y="1028700"/>
            <a:ext cx="16252429" cy="775332"/>
            <a:chOff x="0" y="0"/>
            <a:chExt cx="21669905" cy="1033777"/>
          </a:xfrm>
        </p:grpSpPr>
        <p:sp>
          <p:nvSpPr>
            <p:cNvPr name="AutoShape 10" id="10"/>
            <p:cNvSpPr/>
            <p:nvPr/>
          </p:nvSpPr>
          <p:spPr>
            <a:xfrm flipV="true">
              <a:off x="29098" y="976082"/>
              <a:ext cx="21640792" cy="51345"/>
            </a:xfrm>
            <a:prstGeom prst="line">
              <a:avLst/>
            </a:prstGeom>
            <a:ln cap="flat" w="12700">
              <a:solidFill>
                <a:srgbClr val="2B2C3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-152400"/>
              <a:ext cx="21640800" cy="902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00"/>
                </a:lnSpc>
                <a:spcBef>
                  <a:spcPct val="0"/>
                </a:spcBef>
              </a:pPr>
              <a:r>
                <a:rPr lang="en-US" b="true" sz="3714" spc="843">
                  <a:solidFill>
                    <a:srgbClr val="2B2C3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OBJECTIVES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2110412"/>
            <a:ext cx="9439633" cy="534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an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AI-based medicine verification system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 verification using text, image (OCR), and barcode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Classify medicines as:</a:t>
            </a:r>
          </a:p>
          <a:p>
            <a:pPr algn="l" marL="1295403" indent="-431801" lvl="2">
              <a:lnSpc>
                <a:spcPts val="4200"/>
              </a:lnSpc>
              <a:buAutoNum type="alphaL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Authentic</a:t>
            </a:r>
          </a:p>
          <a:p>
            <a:pPr algn="l" marL="1295403" indent="-431801" lvl="2">
              <a:lnSpc>
                <a:spcPts val="4200"/>
              </a:lnSpc>
              <a:buAutoNum type="alphaL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Fake</a:t>
            </a:r>
          </a:p>
          <a:p>
            <a:pPr algn="l" marL="1295403" indent="-431801" lvl="2">
              <a:lnSpc>
                <a:spcPts val="4200"/>
              </a:lnSpc>
              <a:buAutoNum type="alphaL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Expired</a:t>
            </a:r>
          </a:p>
          <a:p>
            <a:pPr algn="l" marL="1295403" indent="-431801" lvl="2">
              <a:lnSpc>
                <a:spcPts val="4200"/>
              </a:lnSpc>
              <a:buAutoNum type="alphaL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Unverified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similarity search using pgvector (RAG)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safe symptom-based guidance using local LLM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983" y="191522"/>
            <a:ext cx="17947615" cy="9923620"/>
            <a:chOff x="0" y="0"/>
            <a:chExt cx="23930154" cy="13231494"/>
          </a:xfrm>
        </p:grpSpPr>
        <p:sp>
          <p:nvSpPr>
            <p:cNvPr name="AutoShape 3" id="3"/>
            <p:cNvSpPr/>
            <p:nvPr/>
          </p:nvSpPr>
          <p:spPr>
            <a:xfrm>
              <a:off x="25400" y="25400"/>
              <a:ext cx="23879354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25400" y="13206094"/>
              <a:ext cx="23879354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25400" y="25400"/>
              <a:ext cx="0" cy="1318069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23904754" y="25400"/>
              <a:ext cx="0" cy="1318069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70833" y="11238221"/>
              <a:ext cx="1667286" cy="1701632"/>
            </a:xfrm>
            <a:custGeom>
              <a:avLst/>
              <a:gdLst/>
              <a:ahLst/>
              <a:cxnLst/>
              <a:rect r="r" b="b" t="t" l="l"/>
              <a:pathLst>
                <a:path h="1701632" w="1667286">
                  <a:moveTo>
                    <a:pt x="0" y="0"/>
                  </a:moveTo>
                  <a:lnTo>
                    <a:pt x="1667286" y="0"/>
                  </a:lnTo>
                  <a:lnTo>
                    <a:pt x="1667286" y="1701633"/>
                  </a:lnTo>
                  <a:lnTo>
                    <a:pt x="0" y="1701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30" t="0" r="-103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460637" y="12298671"/>
              <a:ext cx="15500897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83"/>
                </a:lnSpc>
              </a:pPr>
              <a:r>
                <a:rPr lang="en-US" b="true" sz="2819" i="true">
                  <a:solidFill>
                    <a:srgbClr val="C00000"/>
                  </a:solidFill>
                  <a:latin typeface="Times New Roman MT Bold Italics"/>
                  <a:ea typeface="Times New Roman MT Bold Italics"/>
                  <a:cs typeface="Times New Roman MT Bold Italics"/>
                  <a:sym typeface="Times New Roman MT Bold Italics"/>
                </a:rPr>
                <a:t>Department of Computer Science &amp; Engineering, MITSOE, Loni Kalbhor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6871" y="1028700"/>
            <a:ext cx="16252429" cy="775332"/>
            <a:chOff x="0" y="0"/>
            <a:chExt cx="21669905" cy="1033777"/>
          </a:xfrm>
        </p:grpSpPr>
        <p:sp>
          <p:nvSpPr>
            <p:cNvPr name="AutoShape 10" id="10"/>
            <p:cNvSpPr/>
            <p:nvPr/>
          </p:nvSpPr>
          <p:spPr>
            <a:xfrm flipV="true">
              <a:off x="29098" y="976082"/>
              <a:ext cx="21640792" cy="51345"/>
            </a:xfrm>
            <a:prstGeom prst="line">
              <a:avLst/>
            </a:prstGeom>
            <a:ln cap="flat" w="12700">
              <a:solidFill>
                <a:srgbClr val="2B2C3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-152400"/>
              <a:ext cx="21640800" cy="902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00"/>
                </a:lnSpc>
                <a:spcBef>
                  <a:spcPct val="0"/>
                </a:spcBef>
              </a:pPr>
              <a:r>
                <a:rPr lang="en-US" b="true" sz="3714" spc="843">
                  <a:solidFill>
                    <a:srgbClr val="2B2C3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CONCEPT &amp; METHODS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1979672"/>
            <a:ext cx="16551573" cy="694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Concept :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MedGuard AI is an AI-powered medicine verification system that detects counterfeit, expired, or unsafe drugs. It analyzes images, text, and barcodes to provide real-time, reliable, and user-friendly authentication for consumers and healthcare professionals.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Methods :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Multi-Modal Input Processing – Handles text, image, and barcode inputs.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OCR (Google Cloud Vision API) – Extracts text from medicine packaging.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Barcode Decoding – Identifies product information.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 Extraction &amp; Validation – Processes and verifies data.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Search (RAG + pgvector/FAISS) – Retrieves relevant medicine data.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Verification Logic – Checks authenticity and expiry.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LLM-Based Summarization (AI Models) – Generates simple results.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Microservice Architecture – Ensures scalability and modular design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bit of body text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983" y="191522"/>
            <a:ext cx="17947615" cy="9923620"/>
            <a:chOff x="0" y="0"/>
            <a:chExt cx="23930154" cy="13231494"/>
          </a:xfrm>
        </p:grpSpPr>
        <p:sp>
          <p:nvSpPr>
            <p:cNvPr name="AutoShape 3" id="3"/>
            <p:cNvSpPr/>
            <p:nvPr/>
          </p:nvSpPr>
          <p:spPr>
            <a:xfrm>
              <a:off x="25400" y="25400"/>
              <a:ext cx="23879354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25400" y="13206094"/>
              <a:ext cx="23879354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25400" y="25400"/>
              <a:ext cx="0" cy="1318069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23904754" y="25400"/>
              <a:ext cx="0" cy="1318069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70833" y="11238221"/>
              <a:ext cx="1667286" cy="1701632"/>
            </a:xfrm>
            <a:custGeom>
              <a:avLst/>
              <a:gdLst/>
              <a:ahLst/>
              <a:cxnLst/>
              <a:rect r="r" b="b" t="t" l="l"/>
              <a:pathLst>
                <a:path h="1701632" w="1667286">
                  <a:moveTo>
                    <a:pt x="0" y="0"/>
                  </a:moveTo>
                  <a:lnTo>
                    <a:pt x="1667286" y="0"/>
                  </a:lnTo>
                  <a:lnTo>
                    <a:pt x="1667286" y="1701633"/>
                  </a:lnTo>
                  <a:lnTo>
                    <a:pt x="0" y="1701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30" t="0" r="-103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460637" y="12298671"/>
              <a:ext cx="15500897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83"/>
                </a:lnSpc>
              </a:pPr>
              <a:r>
                <a:rPr lang="en-US" b="true" sz="2819" i="true">
                  <a:solidFill>
                    <a:srgbClr val="C00000"/>
                  </a:solidFill>
                  <a:latin typeface="Times New Roman MT Bold Italics"/>
                  <a:ea typeface="Times New Roman MT Bold Italics"/>
                  <a:cs typeface="Times New Roman MT Bold Italics"/>
                  <a:sym typeface="Times New Roman MT Bold Italics"/>
                </a:rPr>
                <a:t>Department of Computer Science &amp; Engineering, MITSOE, Loni Kalbhor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6871" y="1028700"/>
            <a:ext cx="16252429" cy="775332"/>
            <a:chOff x="0" y="0"/>
            <a:chExt cx="21669905" cy="1033777"/>
          </a:xfrm>
        </p:grpSpPr>
        <p:sp>
          <p:nvSpPr>
            <p:cNvPr name="AutoShape 10" id="10"/>
            <p:cNvSpPr/>
            <p:nvPr/>
          </p:nvSpPr>
          <p:spPr>
            <a:xfrm flipV="true">
              <a:off x="29098" y="976082"/>
              <a:ext cx="21640792" cy="51345"/>
            </a:xfrm>
            <a:prstGeom prst="line">
              <a:avLst/>
            </a:prstGeom>
            <a:ln cap="flat" w="12700">
              <a:solidFill>
                <a:srgbClr val="2B2C3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-152400"/>
              <a:ext cx="21640800" cy="902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00"/>
                </a:lnSpc>
                <a:spcBef>
                  <a:spcPct val="0"/>
                </a:spcBef>
              </a:pPr>
              <a:r>
                <a:rPr lang="en-US" b="true" sz="3714" spc="843">
                  <a:solidFill>
                    <a:srgbClr val="2B2C3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LITERATURE REVIEW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1006871" y="1804032"/>
          <a:ext cx="16404829" cy="7505700"/>
        </p:xfrm>
        <a:graphic>
          <a:graphicData uri="http://schemas.openxmlformats.org/drawingml/2006/table">
            <a:tbl>
              <a:tblPr/>
              <a:tblGrid>
                <a:gridCol w="758937"/>
                <a:gridCol w="4793666"/>
                <a:gridCol w="3622670"/>
                <a:gridCol w="3192283"/>
                <a:gridCol w="4037273"/>
              </a:tblGrid>
              <a:tr h="7639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Ref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Outcome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Limitation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Contribution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Paper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[1]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Achieved ~90% accuracy inidentifying real vs fakepackaging.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dataset size; lacksbarcode handling and real-world variability.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Used CNN-based imagerecognition and OCR forcounterfeit detection.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Motwani et al., 2022 -Counterfeit MedicineDetection using DeepLearning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[2]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Enabled quick verificationthrough QR scanning andserialization.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Fails if code is duplicatedor damaged.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Developed a QR/Barcode-based medicineauthentication system.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Renushe et al., 2024 - A QRCode Approach ToCounterfeit Drug Prevention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621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[3]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Improved drug labelrecognition accuracy to88%.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Computationally intensive;limited generalization forunseen data.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Proposed hybrid modelcombining image featuresand OCR text embeddings.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Liu et al., 2020 - DLI-IT:Drug Label Identificationthrough Image and TextEmbedding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621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[4]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Detected counterfeit andexpired drugs effectively inreal conditions.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Dependent on manualscanning and infrastructurequality.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Analyzed serialization-based authentication inhospital systems.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Naughton et al., 2016 -Effectiveness of MedicinesAuthentication Technology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983" y="191522"/>
            <a:ext cx="17947615" cy="9923620"/>
            <a:chOff x="0" y="0"/>
            <a:chExt cx="23930154" cy="13231494"/>
          </a:xfrm>
        </p:grpSpPr>
        <p:sp>
          <p:nvSpPr>
            <p:cNvPr name="AutoShape 3" id="3"/>
            <p:cNvSpPr/>
            <p:nvPr/>
          </p:nvSpPr>
          <p:spPr>
            <a:xfrm>
              <a:off x="25400" y="25400"/>
              <a:ext cx="23879354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25400" y="13206094"/>
              <a:ext cx="23879354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25400" y="25400"/>
              <a:ext cx="0" cy="1318069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23904754" y="25400"/>
              <a:ext cx="0" cy="1318069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70833" y="11238221"/>
              <a:ext cx="1667286" cy="1701632"/>
            </a:xfrm>
            <a:custGeom>
              <a:avLst/>
              <a:gdLst/>
              <a:ahLst/>
              <a:cxnLst/>
              <a:rect r="r" b="b" t="t" l="l"/>
              <a:pathLst>
                <a:path h="1701632" w="1667286">
                  <a:moveTo>
                    <a:pt x="0" y="0"/>
                  </a:moveTo>
                  <a:lnTo>
                    <a:pt x="1667286" y="0"/>
                  </a:lnTo>
                  <a:lnTo>
                    <a:pt x="1667286" y="1701633"/>
                  </a:lnTo>
                  <a:lnTo>
                    <a:pt x="0" y="1701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30" t="0" r="-103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460637" y="12298671"/>
              <a:ext cx="15500897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83"/>
                </a:lnSpc>
              </a:pPr>
              <a:r>
                <a:rPr lang="en-US" b="true" sz="2819" i="true">
                  <a:solidFill>
                    <a:srgbClr val="C00000"/>
                  </a:solidFill>
                  <a:latin typeface="Times New Roman MT Bold Italics"/>
                  <a:ea typeface="Times New Roman MT Bold Italics"/>
                  <a:cs typeface="Times New Roman MT Bold Italics"/>
                  <a:sym typeface="Times New Roman MT Bold Italics"/>
                </a:rPr>
                <a:t>Department of Computer Science &amp; Engineering, MITSOE, Loni Kalbhor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6871" y="1028700"/>
            <a:ext cx="16252429" cy="775332"/>
            <a:chOff x="0" y="0"/>
            <a:chExt cx="21669905" cy="1033777"/>
          </a:xfrm>
        </p:grpSpPr>
        <p:sp>
          <p:nvSpPr>
            <p:cNvPr name="AutoShape 10" id="10"/>
            <p:cNvSpPr/>
            <p:nvPr/>
          </p:nvSpPr>
          <p:spPr>
            <a:xfrm flipV="true">
              <a:off x="29098" y="976082"/>
              <a:ext cx="21640792" cy="51345"/>
            </a:xfrm>
            <a:prstGeom prst="line">
              <a:avLst/>
            </a:prstGeom>
            <a:ln cap="flat" w="12700">
              <a:solidFill>
                <a:srgbClr val="2B2C3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-152400"/>
              <a:ext cx="21640800" cy="902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00"/>
                </a:lnSpc>
                <a:spcBef>
                  <a:spcPct val="0"/>
                </a:spcBef>
              </a:pPr>
              <a:r>
                <a:rPr lang="en-US" b="true" sz="3714" spc="843">
                  <a:solidFill>
                    <a:srgbClr val="2B2C3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IDENTIFICATION OF GAPS &amp; SCOPE OF WORK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1880722"/>
            <a:ext cx="16805780" cy="801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Gaps : 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systems rely on single-mo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verification and lack a unified multi-modal approach (MedScan, Zydus Verify)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solutions require costly infrastructure (blockchain, IoT, lab setup), limiting real-world use (ITS Mobile, Blockchain Drug Trace Systems)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methods are not scalable or user-friendly for general consumers (PharmaSecure psVerify)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advanced AI integration and poor handling of real-world issues (damaged packaging, duplicate barcodes) (QR Code Verification Systems, MedScan)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Scope of Work : 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complete multi-modal verification system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accuracy using AI + similarity search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scalable backend using Django REST Framework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 real-time verification and user history tracking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 dataset and improve model performance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983" y="191522"/>
            <a:ext cx="17947615" cy="9923620"/>
            <a:chOff x="0" y="0"/>
            <a:chExt cx="23930154" cy="13231494"/>
          </a:xfrm>
        </p:grpSpPr>
        <p:sp>
          <p:nvSpPr>
            <p:cNvPr name="AutoShape 3" id="3"/>
            <p:cNvSpPr/>
            <p:nvPr/>
          </p:nvSpPr>
          <p:spPr>
            <a:xfrm>
              <a:off x="25400" y="25400"/>
              <a:ext cx="23879354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25400" y="13206094"/>
              <a:ext cx="23879354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25400" y="25400"/>
              <a:ext cx="0" cy="1318069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23904754" y="25400"/>
              <a:ext cx="0" cy="1318069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70833" y="11238221"/>
              <a:ext cx="1667286" cy="1701632"/>
            </a:xfrm>
            <a:custGeom>
              <a:avLst/>
              <a:gdLst/>
              <a:ahLst/>
              <a:cxnLst/>
              <a:rect r="r" b="b" t="t" l="l"/>
              <a:pathLst>
                <a:path h="1701632" w="1667286">
                  <a:moveTo>
                    <a:pt x="0" y="0"/>
                  </a:moveTo>
                  <a:lnTo>
                    <a:pt x="1667286" y="0"/>
                  </a:lnTo>
                  <a:lnTo>
                    <a:pt x="1667286" y="1701633"/>
                  </a:lnTo>
                  <a:lnTo>
                    <a:pt x="0" y="1701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30" t="0" r="-103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460637" y="12298671"/>
              <a:ext cx="15500897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83"/>
                </a:lnSpc>
              </a:pPr>
              <a:r>
                <a:rPr lang="en-US" b="true" sz="2819" i="true">
                  <a:solidFill>
                    <a:srgbClr val="C00000"/>
                  </a:solidFill>
                  <a:latin typeface="Times New Roman MT Bold Italics"/>
                  <a:ea typeface="Times New Roman MT Bold Italics"/>
                  <a:cs typeface="Times New Roman MT Bold Italics"/>
                  <a:sym typeface="Times New Roman MT Bold Italics"/>
                </a:rPr>
                <a:t>Department of Computer Science &amp; Engineering, MITSOE, Loni Kalbhor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6871" y="1028700"/>
            <a:ext cx="16252429" cy="775332"/>
            <a:chOff x="0" y="0"/>
            <a:chExt cx="21669905" cy="1033777"/>
          </a:xfrm>
        </p:grpSpPr>
        <p:sp>
          <p:nvSpPr>
            <p:cNvPr name="AutoShape 10" id="10"/>
            <p:cNvSpPr/>
            <p:nvPr/>
          </p:nvSpPr>
          <p:spPr>
            <a:xfrm flipV="true">
              <a:off x="29098" y="976082"/>
              <a:ext cx="21640792" cy="51345"/>
            </a:xfrm>
            <a:prstGeom prst="line">
              <a:avLst/>
            </a:prstGeom>
            <a:ln cap="flat" w="12700">
              <a:solidFill>
                <a:srgbClr val="2B2C3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-152400"/>
              <a:ext cx="21640800" cy="902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00"/>
                </a:lnSpc>
                <a:spcBef>
                  <a:spcPct val="0"/>
                </a:spcBef>
              </a:pPr>
              <a:r>
                <a:rPr lang="en-US" b="true" sz="3714" spc="843">
                  <a:solidFill>
                    <a:srgbClr val="2B2C3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PROCESS AND ARCHITECTURE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28700" y="2134448"/>
            <a:ext cx="16230600" cy="6045899"/>
          </a:xfrm>
          <a:custGeom>
            <a:avLst/>
            <a:gdLst/>
            <a:ahLst/>
            <a:cxnLst/>
            <a:rect r="r" b="b" t="t" l="l"/>
            <a:pathLst>
              <a:path h="6045899" w="16230600">
                <a:moveTo>
                  <a:pt x="0" y="0"/>
                </a:moveTo>
                <a:lnTo>
                  <a:pt x="16230600" y="0"/>
                </a:lnTo>
                <a:lnTo>
                  <a:pt x="16230600" y="6045899"/>
                </a:lnTo>
                <a:lnTo>
                  <a:pt x="0" y="60458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6871" y="1028700"/>
            <a:ext cx="16252429" cy="775332"/>
            <a:chOff x="0" y="0"/>
            <a:chExt cx="21669905" cy="1033777"/>
          </a:xfrm>
        </p:grpSpPr>
        <p:sp>
          <p:nvSpPr>
            <p:cNvPr name="AutoShape 3" id="3"/>
            <p:cNvSpPr/>
            <p:nvPr/>
          </p:nvSpPr>
          <p:spPr>
            <a:xfrm flipV="true">
              <a:off x="29098" y="976082"/>
              <a:ext cx="21640792" cy="51345"/>
            </a:xfrm>
            <a:prstGeom prst="line">
              <a:avLst/>
            </a:prstGeom>
            <a:ln cap="flat" w="12700">
              <a:solidFill>
                <a:srgbClr val="2B2C3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-152400"/>
              <a:ext cx="21640800" cy="902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00"/>
                </a:lnSpc>
                <a:spcBef>
                  <a:spcPct val="0"/>
                </a:spcBef>
              </a:pPr>
              <a:r>
                <a:rPr lang="en-US" b="true" sz="3714" spc="843">
                  <a:solidFill>
                    <a:srgbClr val="2B2C3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TOOLS AND TECHNOLOGIES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035581"/>
            <a:ext cx="6174820" cy="481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2B2C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Backend: Django REST Framework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2B2C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Database: PostgreSQL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2B2C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000">
                <a:solidFill>
                  <a:srgbClr val="2B2C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AG: pgvector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2B2C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OCR: PaddleOCR, Tesseract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2B2C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LLM: Ollama (local)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2B2C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 React, Flutter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2B2C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Authentication: JWT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2B2C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Deployment: Docker, Cloud</a:t>
            </a:r>
          </a:p>
          <a:p>
            <a:pPr algn="l">
              <a:lnSpc>
                <a:spcPts val="420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46983" y="191522"/>
            <a:ext cx="17947615" cy="9923620"/>
            <a:chOff x="0" y="0"/>
            <a:chExt cx="23930154" cy="13231494"/>
          </a:xfrm>
        </p:grpSpPr>
        <p:sp>
          <p:nvSpPr>
            <p:cNvPr name="AutoShape 7" id="7"/>
            <p:cNvSpPr/>
            <p:nvPr/>
          </p:nvSpPr>
          <p:spPr>
            <a:xfrm>
              <a:off x="25400" y="25400"/>
              <a:ext cx="23879354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25400" y="13206094"/>
              <a:ext cx="23879354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25400" y="25400"/>
              <a:ext cx="0" cy="1318069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23904754" y="25400"/>
              <a:ext cx="0" cy="1318069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70833" y="11238221"/>
              <a:ext cx="1667286" cy="1701632"/>
            </a:xfrm>
            <a:custGeom>
              <a:avLst/>
              <a:gdLst/>
              <a:ahLst/>
              <a:cxnLst/>
              <a:rect r="r" b="b" t="t" l="l"/>
              <a:pathLst>
                <a:path h="1701632" w="1667286">
                  <a:moveTo>
                    <a:pt x="0" y="0"/>
                  </a:moveTo>
                  <a:lnTo>
                    <a:pt x="1667286" y="0"/>
                  </a:lnTo>
                  <a:lnTo>
                    <a:pt x="1667286" y="1701633"/>
                  </a:lnTo>
                  <a:lnTo>
                    <a:pt x="0" y="1701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30" t="0" r="-103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460637" y="12298671"/>
              <a:ext cx="15500897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83"/>
                </a:lnSpc>
              </a:pPr>
              <a:r>
                <a:rPr lang="en-US" b="true" sz="2819" i="true">
                  <a:solidFill>
                    <a:srgbClr val="C00000"/>
                  </a:solidFill>
                  <a:latin typeface="Times New Roman MT Bold Italics"/>
                  <a:ea typeface="Times New Roman MT Bold Italics"/>
                  <a:cs typeface="Times New Roman MT Bold Italics"/>
                  <a:sym typeface="Times New Roman MT Bold Italics"/>
                </a:rPr>
                <a:t>Department of Computer Science &amp; Engineering, MITSOE, Loni Kalbhor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6871" y="1028700"/>
            <a:ext cx="16252429" cy="775332"/>
            <a:chOff x="0" y="0"/>
            <a:chExt cx="21669905" cy="1033777"/>
          </a:xfrm>
        </p:grpSpPr>
        <p:sp>
          <p:nvSpPr>
            <p:cNvPr name="AutoShape 3" id="3"/>
            <p:cNvSpPr/>
            <p:nvPr/>
          </p:nvSpPr>
          <p:spPr>
            <a:xfrm flipV="true">
              <a:off x="29098" y="976082"/>
              <a:ext cx="21640792" cy="51345"/>
            </a:xfrm>
            <a:prstGeom prst="line">
              <a:avLst/>
            </a:prstGeom>
            <a:ln cap="flat" w="12700">
              <a:solidFill>
                <a:srgbClr val="2B2C3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-152400"/>
              <a:ext cx="21640800" cy="902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00"/>
                </a:lnSpc>
                <a:spcBef>
                  <a:spcPct val="0"/>
                </a:spcBef>
              </a:pPr>
              <a:r>
                <a:rPr lang="en-US" b="true" sz="3714" spc="843">
                  <a:solidFill>
                    <a:srgbClr val="2B2C3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IMPLEMENTATION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6983" y="191522"/>
            <a:ext cx="17947615" cy="9923620"/>
            <a:chOff x="0" y="0"/>
            <a:chExt cx="23930154" cy="13231494"/>
          </a:xfrm>
        </p:grpSpPr>
        <p:sp>
          <p:nvSpPr>
            <p:cNvPr name="AutoShape 6" id="6"/>
            <p:cNvSpPr/>
            <p:nvPr/>
          </p:nvSpPr>
          <p:spPr>
            <a:xfrm>
              <a:off x="25400" y="25400"/>
              <a:ext cx="23879354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25400" y="13206094"/>
              <a:ext cx="23879354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25400" y="25400"/>
              <a:ext cx="0" cy="1318069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23904754" y="25400"/>
              <a:ext cx="0" cy="1318069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70833" y="11238221"/>
              <a:ext cx="1667286" cy="1701632"/>
            </a:xfrm>
            <a:custGeom>
              <a:avLst/>
              <a:gdLst/>
              <a:ahLst/>
              <a:cxnLst/>
              <a:rect r="r" b="b" t="t" l="l"/>
              <a:pathLst>
                <a:path h="1701632" w="1667286">
                  <a:moveTo>
                    <a:pt x="0" y="0"/>
                  </a:moveTo>
                  <a:lnTo>
                    <a:pt x="1667286" y="0"/>
                  </a:lnTo>
                  <a:lnTo>
                    <a:pt x="1667286" y="1701633"/>
                  </a:lnTo>
                  <a:lnTo>
                    <a:pt x="0" y="1701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30" t="0" r="-103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460637" y="12298671"/>
              <a:ext cx="15500897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83"/>
                </a:lnSpc>
              </a:pPr>
              <a:r>
                <a:rPr lang="en-US" b="true" sz="2819" i="true">
                  <a:solidFill>
                    <a:srgbClr val="C00000"/>
                  </a:solidFill>
                  <a:latin typeface="Times New Roman MT Bold Italics"/>
                  <a:ea typeface="Times New Roman MT Bold Italics"/>
                  <a:cs typeface="Times New Roman MT Bold Italics"/>
                  <a:sym typeface="Times New Roman MT Bold Italics"/>
                </a:rPr>
                <a:t>Department of Computer Science &amp; Engineering, MITSOE, Loni Kalbhor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2276475"/>
            <a:ext cx="16230600" cy="427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services using Django REST Framework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OCR for image-based text extraction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barcode scanning and decoding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classification logic for medicine verification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Stored data and embeddings using PostgreSQL + pgvector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 frontend with backend APIs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Containerized services using Docker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6871" y="1028700"/>
            <a:ext cx="16252429" cy="775332"/>
            <a:chOff x="0" y="0"/>
            <a:chExt cx="21669905" cy="1033777"/>
          </a:xfrm>
        </p:grpSpPr>
        <p:sp>
          <p:nvSpPr>
            <p:cNvPr name="AutoShape 3" id="3"/>
            <p:cNvSpPr/>
            <p:nvPr/>
          </p:nvSpPr>
          <p:spPr>
            <a:xfrm flipV="true">
              <a:off x="29098" y="976082"/>
              <a:ext cx="21640792" cy="51345"/>
            </a:xfrm>
            <a:prstGeom prst="line">
              <a:avLst/>
            </a:prstGeom>
            <a:ln cap="flat" w="12700">
              <a:solidFill>
                <a:srgbClr val="2B2C3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-152400"/>
              <a:ext cx="21640800" cy="902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00"/>
                </a:lnSpc>
                <a:spcBef>
                  <a:spcPct val="0"/>
                </a:spcBef>
              </a:pPr>
              <a:r>
                <a:rPr lang="en-US" b="true" sz="3714" spc="843">
                  <a:solidFill>
                    <a:srgbClr val="2B2C3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6983" y="191522"/>
            <a:ext cx="17947615" cy="9923620"/>
            <a:chOff x="0" y="0"/>
            <a:chExt cx="23930154" cy="13231494"/>
          </a:xfrm>
        </p:grpSpPr>
        <p:sp>
          <p:nvSpPr>
            <p:cNvPr name="AutoShape 6" id="6"/>
            <p:cNvSpPr/>
            <p:nvPr/>
          </p:nvSpPr>
          <p:spPr>
            <a:xfrm>
              <a:off x="25400" y="25400"/>
              <a:ext cx="23879354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25400" y="13206094"/>
              <a:ext cx="23879354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25400" y="25400"/>
              <a:ext cx="0" cy="1318069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23904754" y="25400"/>
              <a:ext cx="0" cy="1318069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70833" y="11238221"/>
              <a:ext cx="1667286" cy="1701632"/>
            </a:xfrm>
            <a:custGeom>
              <a:avLst/>
              <a:gdLst/>
              <a:ahLst/>
              <a:cxnLst/>
              <a:rect r="r" b="b" t="t" l="l"/>
              <a:pathLst>
                <a:path h="1701632" w="1667286">
                  <a:moveTo>
                    <a:pt x="0" y="0"/>
                  </a:moveTo>
                  <a:lnTo>
                    <a:pt x="1667286" y="0"/>
                  </a:lnTo>
                  <a:lnTo>
                    <a:pt x="1667286" y="1701633"/>
                  </a:lnTo>
                  <a:lnTo>
                    <a:pt x="0" y="1701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30" t="0" r="-103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460637" y="12298671"/>
              <a:ext cx="15500897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83"/>
                </a:lnSpc>
              </a:pPr>
              <a:r>
                <a:rPr lang="en-US" b="true" sz="2819" i="true">
                  <a:solidFill>
                    <a:srgbClr val="C00000"/>
                  </a:solidFill>
                  <a:latin typeface="Times New Roman MT Bold Italics"/>
                  <a:ea typeface="Times New Roman MT Bold Italics"/>
                  <a:cs typeface="Times New Roman MT Bold Italics"/>
                  <a:sym typeface="Times New Roman MT Bold Italics"/>
                </a:rPr>
                <a:t>Department of Computer Science &amp; Engineering, MITSOE, Loni Kalbhor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17994" y="2029102"/>
            <a:ext cx="16101003" cy="7097104"/>
            <a:chOff x="0" y="0"/>
            <a:chExt cx="21468004" cy="94628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57659" y="158751"/>
              <a:ext cx="9238334" cy="4429138"/>
            </a:xfrm>
            <a:custGeom>
              <a:avLst/>
              <a:gdLst/>
              <a:ahLst/>
              <a:cxnLst/>
              <a:rect r="r" b="b" t="t" l="l"/>
              <a:pathLst>
                <a:path h="4429138" w="9238334">
                  <a:moveTo>
                    <a:pt x="0" y="0"/>
                  </a:moveTo>
                  <a:lnTo>
                    <a:pt x="9238333" y="0"/>
                  </a:lnTo>
                  <a:lnTo>
                    <a:pt x="9238333" y="4429138"/>
                  </a:lnTo>
                  <a:lnTo>
                    <a:pt x="0" y="4429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AutoShape 14" id="14"/>
            <p:cNvSpPr/>
            <p:nvPr/>
          </p:nvSpPr>
          <p:spPr>
            <a:xfrm>
              <a:off x="249960" y="12870"/>
              <a:ext cx="9676639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249960" y="12870"/>
              <a:ext cx="0" cy="5095471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>
              <a:off x="249960" y="5130416"/>
              <a:ext cx="9667743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>
              <a:off x="9917703" y="12870"/>
              <a:ext cx="0" cy="5117546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8" id="18"/>
            <p:cNvSpPr txBox="true"/>
            <p:nvPr/>
          </p:nvSpPr>
          <p:spPr>
            <a:xfrm rot="0">
              <a:off x="3912897" y="4530739"/>
              <a:ext cx="1645602" cy="4593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Home Page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11266766" y="237698"/>
              <a:ext cx="7448421" cy="4264862"/>
            </a:xfrm>
            <a:custGeom>
              <a:avLst/>
              <a:gdLst/>
              <a:ahLst/>
              <a:cxnLst/>
              <a:rect r="r" b="b" t="t" l="l"/>
              <a:pathLst>
                <a:path h="4264862" w="7448421">
                  <a:moveTo>
                    <a:pt x="0" y="0"/>
                  </a:moveTo>
                  <a:lnTo>
                    <a:pt x="7448421" y="0"/>
                  </a:lnTo>
                  <a:lnTo>
                    <a:pt x="7448421" y="4264863"/>
                  </a:lnTo>
                  <a:lnTo>
                    <a:pt x="0" y="4264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AutoShape 20" id="20"/>
            <p:cNvSpPr/>
            <p:nvPr/>
          </p:nvSpPr>
          <p:spPr>
            <a:xfrm>
              <a:off x="10891872" y="12700"/>
              <a:ext cx="7820275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10891872" y="12700"/>
              <a:ext cx="0" cy="5095809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2" id="22"/>
            <p:cNvSpPr/>
            <p:nvPr/>
          </p:nvSpPr>
          <p:spPr>
            <a:xfrm>
              <a:off x="10891872" y="5130586"/>
              <a:ext cx="7813086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3" id="23"/>
            <p:cNvSpPr/>
            <p:nvPr/>
          </p:nvSpPr>
          <p:spPr>
            <a:xfrm>
              <a:off x="18704958" y="12700"/>
              <a:ext cx="0" cy="5117886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4" id="24"/>
            <p:cNvSpPr txBox="true"/>
            <p:nvPr/>
          </p:nvSpPr>
          <p:spPr>
            <a:xfrm rot="0">
              <a:off x="13575187" y="4605946"/>
              <a:ext cx="2446455" cy="4444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62"/>
                </a:lnSpc>
              </a:pPr>
              <a:r>
                <a:rPr lang="en-US" sz="1973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Verification Page</a:t>
              </a:r>
            </a:p>
          </p:txBody>
        </p:sp>
        <p:sp>
          <p:nvSpPr>
            <p:cNvPr name="Freeform 25" id="25"/>
            <p:cNvSpPr/>
            <p:nvPr/>
          </p:nvSpPr>
          <p:spPr>
            <a:xfrm flipH="false" flipV="false" rot="0">
              <a:off x="340459" y="5607581"/>
              <a:ext cx="5786046" cy="3392591"/>
            </a:xfrm>
            <a:custGeom>
              <a:avLst/>
              <a:gdLst/>
              <a:ahLst/>
              <a:cxnLst/>
              <a:rect r="r" b="b" t="t" l="l"/>
              <a:pathLst>
                <a:path h="3392591" w="5786046">
                  <a:moveTo>
                    <a:pt x="0" y="0"/>
                  </a:moveTo>
                  <a:lnTo>
                    <a:pt x="5786046" y="0"/>
                  </a:lnTo>
                  <a:lnTo>
                    <a:pt x="5786046" y="3392591"/>
                  </a:lnTo>
                  <a:lnTo>
                    <a:pt x="0" y="3392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AutoShape 26" id="26"/>
            <p:cNvSpPr/>
            <p:nvPr/>
          </p:nvSpPr>
          <p:spPr>
            <a:xfrm>
              <a:off x="12700" y="5533704"/>
              <a:ext cx="6741450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12700" y="5533704"/>
              <a:ext cx="0" cy="3899507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12700" y="9450105"/>
              <a:ext cx="6735253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6747953" y="5533704"/>
              <a:ext cx="0" cy="3916401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0" id="30"/>
            <p:cNvSpPr txBox="true"/>
            <p:nvPr/>
          </p:nvSpPr>
          <p:spPr>
            <a:xfrm rot="0">
              <a:off x="2325846" y="9037450"/>
              <a:ext cx="2108961" cy="351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3"/>
                </a:lnSpc>
              </a:pPr>
              <a:r>
                <a:rPr lang="en-US" sz="150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AI Assistant</a:t>
              </a:r>
            </a:p>
          </p:txBody>
        </p:sp>
        <p:sp>
          <p:nvSpPr>
            <p:cNvPr name="Freeform 31" id="31"/>
            <p:cNvSpPr/>
            <p:nvPr/>
          </p:nvSpPr>
          <p:spPr>
            <a:xfrm flipH="false" flipV="false" rot="0">
              <a:off x="7812476" y="5705778"/>
              <a:ext cx="5540528" cy="3286508"/>
            </a:xfrm>
            <a:custGeom>
              <a:avLst/>
              <a:gdLst/>
              <a:ahLst/>
              <a:cxnLst/>
              <a:rect r="r" b="b" t="t" l="l"/>
              <a:pathLst>
                <a:path h="3286508" w="5540528">
                  <a:moveTo>
                    <a:pt x="0" y="0"/>
                  </a:moveTo>
                  <a:lnTo>
                    <a:pt x="5540529" y="0"/>
                  </a:lnTo>
                  <a:lnTo>
                    <a:pt x="5540529" y="3286508"/>
                  </a:lnTo>
                  <a:lnTo>
                    <a:pt x="0" y="3286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AutoShape 32" id="32"/>
            <p:cNvSpPr/>
            <p:nvPr/>
          </p:nvSpPr>
          <p:spPr>
            <a:xfrm>
              <a:off x="7410352" y="5533704"/>
              <a:ext cx="6741450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3" id="33"/>
            <p:cNvSpPr/>
            <p:nvPr/>
          </p:nvSpPr>
          <p:spPr>
            <a:xfrm>
              <a:off x="7410352" y="5533704"/>
              <a:ext cx="0" cy="3899507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4" id="34"/>
            <p:cNvSpPr/>
            <p:nvPr/>
          </p:nvSpPr>
          <p:spPr>
            <a:xfrm>
              <a:off x="7410352" y="9450105"/>
              <a:ext cx="6735253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5" id="35"/>
            <p:cNvSpPr/>
            <p:nvPr/>
          </p:nvSpPr>
          <p:spPr>
            <a:xfrm>
              <a:off x="14145605" y="5533704"/>
              <a:ext cx="0" cy="3916401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6" id="36"/>
            <p:cNvSpPr txBox="true"/>
            <p:nvPr/>
          </p:nvSpPr>
          <p:spPr>
            <a:xfrm rot="0">
              <a:off x="9723498" y="9037450"/>
              <a:ext cx="2108961" cy="351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3"/>
                </a:lnSpc>
              </a:pPr>
              <a:r>
                <a:rPr lang="en-US" sz="150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History</a:t>
              </a:r>
            </a:p>
          </p:txBody>
        </p:sp>
        <p:sp>
          <p:nvSpPr>
            <p:cNvPr name="Freeform 37" id="37"/>
            <p:cNvSpPr/>
            <p:nvPr/>
          </p:nvSpPr>
          <p:spPr>
            <a:xfrm flipH="false" flipV="false" rot="0">
              <a:off x="15146037" y="5988040"/>
              <a:ext cx="6262805" cy="3007729"/>
            </a:xfrm>
            <a:custGeom>
              <a:avLst/>
              <a:gdLst/>
              <a:ahLst/>
              <a:cxnLst/>
              <a:rect r="r" b="b" t="t" l="l"/>
              <a:pathLst>
                <a:path h="3007729" w="6262805">
                  <a:moveTo>
                    <a:pt x="0" y="0"/>
                  </a:moveTo>
                  <a:lnTo>
                    <a:pt x="6262804" y="0"/>
                  </a:lnTo>
                  <a:lnTo>
                    <a:pt x="6262804" y="3007729"/>
                  </a:lnTo>
                  <a:lnTo>
                    <a:pt x="0" y="3007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AutoShape 38" id="38"/>
            <p:cNvSpPr/>
            <p:nvPr/>
          </p:nvSpPr>
          <p:spPr>
            <a:xfrm>
              <a:off x="14808003" y="5533704"/>
              <a:ext cx="6653417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9" id="39"/>
            <p:cNvSpPr/>
            <p:nvPr/>
          </p:nvSpPr>
          <p:spPr>
            <a:xfrm>
              <a:off x="14808003" y="5533704"/>
              <a:ext cx="0" cy="3899507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0" id="40"/>
            <p:cNvSpPr/>
            <p:nvPr/>
          </p:nvSpPr>
          <p:spPr>
            <a:xfrm>
              <a:off x="14808003" y="9450105"/>
              <a:ext cx="6647301" cy="0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1" id="41"/>
            <p:cNvSpPr/>
            <p:nvPr/>
          </p:nvSpPr>
          <p:spPr>
            <a:xfrm>
              <a:off x="21455304" y="5533704"/>
              <a:ext cx="0" cy="3916401"/>
            </a:xfrm>
            <a:prstGeom prst="line">
              <a:avLst/>
            </a:prstGeom>
            <a:ln cap="flat" w="254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2" id="42"/>
            <p:cNvSpPr txBox="true"/>
            <p:nvPr/>
          </p:nvSpPr>
          <p:spPr>
            <a:xfrm rot="0">
              <a:off x="17090943" y="9037450"/>
              <a:ext cx="2081421" cy="351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13"/>
                </a:lnSpc>
              </a:pPr>
              <a:r>
                <a:rPr lang="en-US" sz="150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Login Page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6871" y="1028700"/>
            <a:ext cx="16252429" cy="775332"/>
            <a:chOff x="0" y="0"/>
            <a:chExt cx="21669905" cy="1033777"/>
          </a:xfrm>
        </p:grpSpPr>
        <p:sp>
          <p:nvSpPr>
            <p:cNvPr name="AutoShape 3" id="3"/>
            <p:cNvSpPr/>
            <p:nvPr/>
          </p:nvSpPr>
          <p:spPr>
            <a:xfrm flipV="true">
              <a:off x="29098" y="976082"/>
              <a:ext cx="21640792" cy="51345"/>
            </a:xfrm>
            <a:prstGeom prst="line">
              <a:avLst/>
            </a:prstGeom>
            <a:ln cap="flat" w="12700">
              <a:solidFill>
                <a:srgbClr val="2B2C3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-152400"/>
              <a:ext cx="21640800" cy="902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00"/>
                </a:lnSpc>
                <a:spcBef>
                  <a:spcPct val="0"/>
                </a:spcBef>
              </a:pPr>
              <a:r>
                <a:rPr lang="en-US" b="true" sz="3714" spc="843">
                  <a:solidFill>
                    <a:srgbClr val="2B2C3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CONCLUSION AND FUTURE WORK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6983" y="191522"/>
            <a:ext cx="17947615" cy="9923620"/>
            <a:chOff x="0" y="0"/>
            <a:chExt cx="23930154" cy="13231494"/>
          </a:xfrm>
        </p:grpSpPr>
        <p:sp>
          <p:nvSpPr>
            <p:cNvPr name="AutoShape 6" id="6"/>
            <p:cNvSpPr/>
            <p:nvPr/>
          </p:nvSpPr>
          <p:spPr>
            <a:xfrm>
              <a:off x="25400" y="25400"/>
              <a:ext cx="23879354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25400" y="13206094"/>
              <a:ext cx="23879354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25400" y="25400"/>
              <a:ext cx="0" cy="1318069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23904754" y="25400"/>
              <a:ext cx="0" cy="1318069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70833" y="11238221"/>
              <a:ext cx="1667286" cy="1701632"/>
            </a:xfrm>
            <a:custGeom>
              <a:avLst/>
              <a:gdLst/>
              <a:ahLst/>
              <a:cxnLst/>
              <a:rect r="r" b="b" t="t" l="l"/>
              <a:pathLst>
                <a:path h="1701632" w="1667286">
                  <a:moveTo>
                    <a:pt x="0" y="0"/>
                  </a:moveTo>
                  <a:lnTo>
                    <a:pt x="1667286" y="0"/>
                  </a:lnTo>
                  <a:lnTo>
                    <a:pt x="1667286" y="1701633"/>
                  </a:lnTo>
                  <a:lnTo>
                    <a:pt x="0" y="1701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30" t="0" r="-103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460637" y="12298671"/>
              <a:ext cx="15500897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83"/>
                </a:lnSpc>
              </a:pPr>
              <a:r>
                <a:rPr lang="en-US" b="true" sz="2819" i="true">
                  <a:solidFill>
                    <a:srgbClr val="C00000"/>
                  </a:solidFill>
                  <a:latin typeface="Times New Roman MT Bold Italics"/>
                  <a:ea typeface="Times New Roman MT Bold Italics"/>
                  <a:cs typeface="Times New Roman MT Bold Italics"/>
                  <a:sym typeface="Times New Roman MT Bold Italics"/>
                </a:rPr>
                <a:t>Department of Computer Science &amp; Engineering, MITSOE, Loni Kalbhor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2172007"/>
            <a:ext cx="10953155" cy="534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: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Successfully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a multi-modal AI-based verification system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reliability in medicine authentication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accessible and practical solution for users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Work :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 dataset for higher accuracy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AI model performance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Launch mobile application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real-time regulatory databases</a:t>
            </a:r>
          </a:p>
          <a:p>
            <a:pPr algn="l" marL="647702" indent="-323851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 fully on cloud for large-scale use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6871" y="1028700"/>
            <a:ext cx="16252429" cy="775332"/>
            <a:chOff x="0" y="0"/>
            <a:chExt cx="21669905" cy="1033777"/>
          </a:xfrm>
        </p:grpSpPr>
        <p:sp>
          <p:nvSpPr>
            <p:cNvPr name="AutoShape 3" id="3"/>
            <p:cNvSpPr/>
            <p:nvPr/>
          </p:nvSpPr>
          <p:spPr>
            <a:xfrm flipV="true">
              <a:off x="29098" y="976082"/>
              <a:ext cx="21640792" cy="51345"/>
            </a:xfrm>
            <a:prstGeom prst="line">
              <a:avLst/>
            </a:prstGeom>
            <a:ln cap="flat" w="12700">
              <a:solidFill>
                <a:srgbClr val="2B2C3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-152400"/>
              <a:ext cx="21640800" cy="902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00"/>
                </a:lnSpc>
                <a:spcBef>
                  <a:spcPct val="0"/>
                </a:spcBef>
              </a:pPr>
              <a:r>
                <a:rPr lang="en-US" b="true" sz="3714" spc="843">
                  <a:solidFill>
                    <a:srgbClr val="2B2C3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REFERENCES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6983" y="191522"/>
            <a:ext cx="17947615" cy="9923620"/>
            <a:chOff x="0" y="0"/>
            <a:chExt cx="23930154" cy="13231494"/>
          </a:xfrm>
        </p:grpSpPr>
        <p:sp>
          <p:nvSpPr>
            <p:cNvPr name="AutoShape 6" id="6"/>
            <p:cNvSpPr/>
            <p:nvPr/>
          </p:nvSpPr>
          <p:spPr>
            <a:xfrm>
              <a:off x="25400" y="25400"/>
              <a:ext cx="23879354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25400" y="13206094"/>
              <a:ext cx="23879354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25400" y="25400"/>
              <a:ext cx="0" cy="1318069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23904754" y="25400"/>
              <a:ext cx="0" cy="1318069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70833" y="11238221"/>
              <a:ext cx="1667286" cy="1701632"/>
            </a:xfrm>
            <a:custGeom>
              <a:avLst/>
              <a:gdLst/>
              <a:ahLst/>
              <a:cxnLst/>
              <a:rect r="r" b="b" t="t" l="l"/>
              <a:pathLst>
                <a:path h="1701632" w="1667286">
                  <a:moveTo>
                    <a:pt x="0" y="0"/>
                  </a:moveTo>
                  <a:lnTo>
                    <a:pt x="1667286" y="0"/>
                  </a:lnTo>
                  <a:lnTo>
                    <a:pt x="1667286" y="1701633"/>
                  </a:lnTo>
                  <a:lnTo>
                    <a:pt x="0" y="17016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30" t="0" r="-103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460637" y="12298671"/>
              <a:ext cx="15500897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83"/>
                </a:lnSpc>
              </a:pPr>
              <a:r>
                <a:rPr lang="en-US" b="true" sz="2819" i="true">
                  <a:solidFill>
                    <a:srgbClr val="C00000"/>
                  </a:solidFill>
                  <a:latin typeface="Times New Roman MT Bold Italics"/>
                  <a:ea typeface="Times New Roman MT Bold Italics"/>
                  <a:cs typeface="Times New Roman MT Bold Italics"/>
                  <a:sym typeface="Times New Roman MT Bold Italics"/>
                </a:rPr>
                <a:t>Department of Computer Science &amp; Engineering, MITSOE, Loni Kalbhor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2079826"/>
            <a:ext cx="16230600" cy="6410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3000" spc="15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[1]</a:t>
            </a:r>
            <a:r>
              <a:rPr lang="en-US" sz="3000" spc="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P. Motwani, R. Sharma, and S. Bansal, “CounterfeitMedicine Detection Using Deep Learning,”International Journal of Innovative Research inTechnology (IJIRT), vol. 3, no. 11, pp. 45–50,2022.https://ijirt.org/publishedpaper/IJIRT156491_P</a:t>
            </a:r>
            <a:r>
              <a:rPr lang="en-US" sz="3000" spc="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APER.pdf2. </a:t>
            </a:r>
          </a:p>
          <a:p>
            <a:pPr algn="l">
              <a:lnSpc>
                <a:spcPts val="4200"/>
              </a:lnSpc>
            </a:pPr>
            <a:r>
              <a:rPr lang="en-US" sz="3000" spc="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true" sz="3000" spc="1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[2]</a:t>
            </a:r>
            <a:r>
              <a:rPr lang="en-US" sz="3000" spc="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A. Renushe, V. Shinde, and R. Patil, “A QR CodeApproach to Counterfeit Drug Prevention,” Journal ofNeonatal Surgery, vol. 13, no. 2, pp. 115–120, 2024.3. </a:t>
            </a:r>
          </a:p>
          <a:p>
            <a:pPr algn="l">
              <a:lnSpc>
                <a:spcPts val="4200"/>
              </a:lnSpc>
            </a:pPr>
            <a:r>
              <a:rPr lang="en-US" sz="3000" spc="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true" sz="3000" spc="1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[3]</a:t>
            </a:r>
            <a:r>
              <a:rPr lang="en-US" sz="3000" spc="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Y. Liu, M. Yang, and Q. Chen, “DLI-IT: A DeepLearning Approach to Drug Label Identificationthrough Image and Text Embedding,” BMC MedicalInformatics and Decision Making, vol. 20, no. 4, pp.87–96, 2020.https://doi.org/10.1186/s12911-020-1078-34. </a:t>
            </a:r>
          </a:p>
          <a:p>
            <a:pPr algn="l">
              <a:lnSpc>
                <a:spcPts val="4200"/>
              </a:lnSpc>
            </a:pPr>
            <a:r>
              <a:rPr lang="en-US" sz="3000" spc="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true" sz="3000" spc="1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[4]</a:t>
            </a:r>
            <a:r>
              <a:rPr lang="en-US" sz="3000" spc="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P. Naughton, R. Smith, and L. Morrison,“Effectiveness of Medicines AuthenticationTechnology to Detect Counterfeit, Recalled andExpired Medicines,” Journal of Public Health, vol. 38,no. 4, pp. 603–611,2016.https://bmjopen.bmj.com/content/6/12/e0138375.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DAHHs2-NlAY</dc:identifier>
  <dcterms:modified xsi:type="dcterms:W3CDTF">2011-08-01T06:04:30Z</dcterms:modified>
  <cp:revision>1</cp:revision>
  <dc:title>MedGuardAI_Final_PPT_LYAIEC02</dc:title>
</cp:coreProperties>
</file>